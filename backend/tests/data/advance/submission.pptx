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Saira Medium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47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4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rive.google.com/file/d/1cgHm3xBvUDYID-ujUjpWIP8H-88BIp5Z/view?usp=sharing" TargetMode="External"/><Relationship Id="rId4" Type="http://schemas.openxmlformats.org/officeDocument/2006/relationships/hyperlink" Target="https://github.com/debanjalipaulhac-rdcp/WB-Digital-Sahayak.git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4;p13" title="Artscfghgboard – 5.png">
            <a:extLst>
              <a:ext uri="{FF2B5EF4-FFF2-40B4-BE49-F238E27FC236}">
                <a16:creationId xmlns:a16="http://schemas.microsoft.com/office/drawing/2014/main" id="{4EA928B4-261E-DC0C-99A6-7B1B4A86E7A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0"/>
          <p:cNvSpPr/>
          <p:nvPr/>
        </p:nvSpPr>
        <p:spPr>
          <a:xfrm>
            <a:off x="726883" y="51382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WB Digital Sahayak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26883" y="556249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1600" b="1" dirty="0"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Voice-First Welfare Eligibility Engine for West Bengal</a:t>
            </a:r>
            <a:endParaRPr lang="en-US" sz="1600" b="1" dirty="0"/>
          </a:p>
        </p:txBody>
      </p:sp>
      <p:sp>
        <p:nvSpPr>
          <p:cNvPr id="5" name="Text 2"/>
          <p:cNvSpPr/>
          <p:nvPr/>
        </p:nvSpPr>
        <p:spPr>
          <a:xfrm>
            <a:off x="726882" y="629809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" pitchFamily="34" charset="0"/>
                <a:ea typeface="Roboto" pitchFamily="34" charset="-122"/>
                <a:cs typeface="Roboto" pitchFamily="34" charset="-120"/>
              </a:rPr>
              <a:t>Team Web | Team Leader: Souvik Karmakar</a:t>
            </a:r>
            <a:endParaRPr lang="en-US" sz="17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68CF9-46E5-9694-7897-E37251472159}"/>
              </a:ext>
            </a:extLst>
          </p:cNvPr>
          <p:cNvSpPr txBox="1"/>
          <p:nvPr/>
        </p:nvSpPr>
        <p:spPr>
          <a:xfrm>
            <a:off x="680227" y="6947348"/>
            <a:ext cx="10561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Problem Statement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Overcoming the digital and literacy barriers preventing millions in West Bengal from accessing ₹25,000+ crores in annual welfare benefits due to complex rules and high "failed visit" costs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2;p14" title="Artboarddfghjk – 6.png">
            <a:extLst>
              <a:ext uri="{FF2B5EF4-FFF2-40B4-BE49-F238E27FC236}">
                <a16:creationId xmlns:a16="http://schemas.microsoft.com/office/drawing/2014/main" id="{C91660B7-BF12-1F66-4C99-FB5F670BAD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93790" y="18623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247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Citizens lack digital literacy, face English-only portals, and receive no guidance before office visits — leading to wasted time, money, and rejected applications.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190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₹25K+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455420" y="5150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Crores Unclaimed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64130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Annual welfare benefits going unclaimed in West Bengal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41190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40%+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5150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Applications Rejected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564130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Due to missing or incorrect documents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41190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₹500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51508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Cost Per Visit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564130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expense for failed office trips by rural families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92742-BA96-0559-1A91-8E90EC364B93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4" title="Artboarddfghjk – 6.png">
            <a:extLst>
              <a:ext uri="{FF2B5EF4-FFF2-40B4-BE49-F238E27FC236}">
                <a16:creationId xmlns:a16="http://schemas.microsoft.com/office/drawing/2014/main" id="{247AE7BA-108B-32B8-8CEB-2BAF10AE3E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93790" y="955596"/>
            <a:ext cx="10824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WB Digital Sahayak — Your Digital Friend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0009"/>
            <a:ext cx="42051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WB Digital Sahayak is a voice-first, AI-driven unified eligibility engine for West Bengal citizens. It acts as a "Digital Sahayak" (helper) that speaks Bengali, calculates eligibility deterministically, and provides a Readiness Score before any office visit.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24400"/>
            <a:ext cx="4205168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Voice-First: Native Bengali interaction via Sarvam AI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MVP Focus: Lakshmir Bhandar scheme (architecture supports multi-scheme)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Yes/No: Provides a step-by-step readiness roadmap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A6489-9EAF-2977-36AC-80D649F71C58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7254BB-CC33-5E85-6B1D-12AC8B6F2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348" y="1664375"/>
            <a:ext cx="3163916" cy="3996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E4FA03-D46B-61E8-43F2-159BE735E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686" y="1664375"/>
            <a:ext cx="4308044" cy="3996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569AE4-0D43-DAD1-CB77-8D7F1F556E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987"/>
          <a:stretch>
            <a:fillRect/>
          </a:stretch>
        </p:blipFill>
        <p:spPr>
          <a:xfrm>
            <a:off x="6318686" y="5661303"/>
            <a:ext cx="4308044" cy="23953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62;p14" title="Artboarddfghjk – 6.png">
            <a:extLst>
              <a:ext uri="{FF2B5EF4-FFF2-40B4-BE49-F238E27FC236}">
                <a16:creationId xmlns:a16="http://schemas.microsoft.com/office/drawing/2014/main" id="{C467126C-B044-5B4B-65DF-C7F01D0DDA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93790" y="19500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Why We Win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2413"/>
            <a:ext cx="4196358" cy="3167182"/>
          </a:xfrm>
          <a:prstGeom prst="roundRect">
            <a:avLst>
              <a:gd name="adj" fmla="val 644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is it different?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3464" y="3852505"/>
            <a:ext cx="36970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portals are text-heavy, English-centric, and require high digital literacy. We are Voice-First AND Deterministic — we don't chat, we calculate.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12413"/>
            <a:ext cx="4196358" cy="3167182"/>
          </a:xfrm>
          <a:prstGeom prst="roundRect">
            <a:avLst>
              <a:gd name="adj" fmla="val 644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6636" y="3362087"/>
            <a:ext cx="36970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does it solve the problem?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66636" y="4206835"/>
            <a:ext cx="36970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Readiness Score (0–100%) ensures citizens visit offices only when 100% prepared, eliminating wasted ₹90-130 travel costs per failed visit.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12413"/>
            <a:ext cx="4196358" cy="3167182"/>
          </a:xfrm>
          <a:prstGeom prst="roundRect">
            <a:avLst>
              <a:gd name="adj" fmla="val 644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9808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Our USP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89808" y="3852505"/>
            <a:ext cx="369701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Zero-Hallucination Architecture: Rules-based eligibility engine + AI explanations. Cross-scheme Intelligence: Eligible for Lakshmir Bhandar → auto-suggest Kanyashree.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A1AD80-221C-752B-D47C-4425EEC8FEC6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62;p14" title="Artboarddfghjk – 6.png">
            <a:extLst>
              <a:ext uri="{FF2B5EF4-FFF2-40B4-BE49-F238E27FC236}">
                <a16:creationId xmlns:a16="http://schemas.microsoft.com/office/drawing/2014/main" id="{A273E7D2-5AD1-F2A8-11E2-B39617B3D2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75216" y="868340"/>
            <a:ext cx="5537359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Features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216" y="1769983"/>
            <a:ext cx="553641" cy="553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5216" y="2593896"/>
            <a:ext cx="3921443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Deterministic Eligibility Engine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75216" y="3069550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Rules-based logic, no AI guessing on eligibility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0336" y="1769983"/>
            <a:ext cx="553641" cy="5536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0336" y="2593896"/>
            <a:ext cx="3385066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Readiness Score (0–100%)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450336" y="3069550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application maturity feedback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216" y="3852267"/>
            <a:ext cx="553641" cy="5536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5216" y="4676180"/>
            <a:ext cx="414408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Missing Document Identification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75216" y="5151834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Tells exactly what's missing (e.g., "Aadhaar not linked")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50336" y="3852267"/>
            <a:ext cx="553641" cy="5536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0336" y="4676180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Voice-First Interface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450336" y="5151834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 AI Bengali STT/TTS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5216" y="5934551"/>
            <a:ext cx="553641" cy="5536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5216" y="6758464"/>
            <a:ext cx="3217307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Proactive Renewal Alerts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775216" y="7234118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WhatsApp/Voice reminders for expiring benefits</a:t>
            </a:r>
            <a:endParaRPr lang="en-US" sz="17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50336" y="5934551"/>
            <a:ext cx="553641" cy="55364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50336" y="6758464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Multi-Channel Access</a:t>
            </a:r>
            <a:endParaRPr lang="en-US" sz="2150" dirty="0"/>
          </a:p>
        </p:txBody>
      </p:sp>
      <p:sp>
        <p:nvSpPr>
          <p:cNvPr id="20" name="Text 12"/>
          <p:cNvSpPr/>
          <p:nvPr/>
        </p:nvSpPr>
        <p:spPr>
          <a:xfrm>
            <a:off x="7450336" y="7234118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on low-end phones via WhatsApp and Web</a:t>
            </a:r>
            <a:endParaRPr lang="en-US" sz="1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FAD253-35AB-ABE1-7509-50C295CC2975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4788"/>
            <a:ext cx="71308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It Works — End to End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2327196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4546" y="3533921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Explanation Generation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7120" y="3535144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Eligibility Check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0307" y="3535144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Intent Extraction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3493" y="3535144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731208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STT Transcription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23636" y="3535144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914621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User Speaks</a:t>
            </a:r>
            <a:endParaRPr lang="en-US" sz="2300" dirty="0"/>
          </a:p>
        </p:txBody>
      </p:sp>
      <p:pic>
        <p:nvPicPr>
          <p:cNvPr id="14" name="Google Shape;62;p14" title="Artboarddfghjk – 6.png">
            <a:extLst>
              <a:ext uri="{FF2B5EF4-FFF2-40B4-BE49-F238E27FC236}">
                <a16:creationId xmlns:a16="http://schemas.microsoft.com/office/drawing/2014/main" id="{16119BD2-4C4F-05AB-EAC2-29510EE2C8D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2712BB7-780B-0F50-3237-9E1CDD30BCDB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8B7926-4CB8-07BE-5AE4-D85C451A8741}"/>
              </a:ext>
            </a:extLst>
          </p:cNvPr>
          <p:cNvSpPr txBox="1"/>
          <p:nvPr/>
        </p:nvSpPr>
        <p:spPr>
          <a:xfrm>
            <a:off x="4359235" y="6495344"/>
            <a:ext cx="220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SARVAM 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0D3E77-A59B-FBEC-8E22-1DF9BED67261}"/>
              </a:ext>
            </a:extLst>
          </p:cNvPr>
          <p:cNvSpPr txBox="1"/>
          <p:nvPr/>
        </p:nvSpPr>
        <p:spPr>
          <a:xfrm>
            <a:off x="11203535" y="6464860"/>
            <a:ext cx="220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NOVA NANO, MICRO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62;p14" title="Artboarddfghjk – 6.png">
            <a:extLst>
              <a:ext uri="{FF2B5EF4-FFF2-40B4-BE49-F238E27FC236}">
                <a16:creationId xmlns:a16="http://schemas.microsoft.com/office/drawing/2014/main" id="{1508DC52-D484-CCBE-53D1-FE68F5D34E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93790" y="9947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34434"/>
            <a:ext cx="6407944" cy="1957626"/>
          </a:xfrm>
          <a:prstGeom prst="roundRect">
            <a:avLst>
              <a:gd name="adj" fmla="val 12801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527816"/>
            <a:ext cx="6346984" cy="226814"/>
          </a:xfrm>
          <a:prstGeom prst="roundRect">
            <a:avLst>
              <a:gd name="adj" fmla="val 73880"/>
            </a:avLst>
          </a:prstGeom>
          <a:solidFill>
            <a:srgbClr val="030303"/>
          </a:solidFill>
          <a:ln/>
        </p:spPr>
      </p:sp>
      <p:sp>
        <p:nvSpPr>
          <p:cNvPr id="5" name="Text 3"/>
          <p:cNvSpPr/>
          <p:nvPr/>
        </p:nvSpPr>
        <p:spPr>
          <a:xfrm>
            <a:off x="1051084" y="26412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Interface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313482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App, WhatsApp (Twilio), Sarvam AI Voice Widget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157174"/>
            <a:ext cx="6408063" cy="1934885"/>
          </a:xfrm>
          <a:prstGeom prst="roundRect">
            <a:avLst>
              <a:gd name="adj" fmla="val 10551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9027" y="2187654"/>
            <a:ext cx="6347103" cy="226814"/>
          </a:xfrm>
          <a:prstGeom prst="roundRect">
            <a:avLst>
              <a:gd name="adj" fmla="val 73880"/>
            </a:avLst>
          </a:prstGeom>
          <a:solidFill>
            <a:srgbClr val="030303"/>
          </a:solidFill>
          <a:ln/>
        </p:spPr>
      </p:sp>
      <p:sp>
        <p:nvSpPr>
          <p:cNvPr id="9" name="Text 7"/>
          <p:cNvSpPr/>
          <p:nvPr/>
        </p:nvSpPr>
        <p:spPr>
          <a:xfrm>
            <a:off x="7685842" y="26412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Application Layer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85842" y="313170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API Gateway → AWS Lambda (Python)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318873"/>
            <a:ext cx="6407944" cy="2297788"/>
          </a:xfrm>
          <a:prstGeom prst="roundRect">
            <a:avLst>
              <a:gd name="adj" fmla="val 10428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4270" y="4689515"/>
            <a:ext cx="6346984" cy="226814"/>
          </a:xfrm>
          <a:prstGeom prst="roundRect">
            <a:avLst>
              <a:gd name="adj" fmla="val 73880"/>
            </a:avLst>
          </a:prstGeom>
          <a:solidFill>
            <a:srgbClr val="03030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084" y="49206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Intelligence Layer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084" y="529535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Rules Engine + Amazon Bedrock (Claude Haiku) + Knowledge Base (S3-backed)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318873"/>
            <a:ext cx="6408063" cy="2297787"/>
          </a:xfrm>
          <a:prstGeom prst="roundRect">
            <a:avLst>
              <a:gd name="adj" fmla="val 8884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9027" y="4349353"/>
            <a:ext cx="6347103" cy="226814"/>
          </a:xfrm>
          <a:prstGeom prst="roundRect">
            <a:avLst>
              <a:gd name="adj" fmla="val 73880"/>
            </a:avLst>
          </a:prstGeom>
          <a:solidFill>
            <a:srgbClr val="030303"/>
          </a:solidFill>
          <a:ln/>
        </p:spPr>
      </p:sp>
      <p:sp>
        <p:nvSpPr>
          <p:cNvPr id="17" name="Text 15"/>
          <p:cNvSpPr/>
          <p:nvPr/>
        </p:nvSpPr>
        <p:spPr>
          <a:xfrm>
            <a:off x="7685842" y="48029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Layer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5842" y="529340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DynamoDB (user sessions) + Amazon S3 (scheme docs)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8718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Cross-cutting: AWS CloudWatch (monitoring) + AWS IAM (security)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687486-2770-46D4-93C3-75D66119C2D3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62;p14" title="Artboarddfghjk – 6.png">
            <a:extLst>
              <a:ext uri="{FF2B5EF4-FFF2-40B4-BE49-F238E27FC236}">
                <a16:creationId xmlns:a16="http://schemas.microsoft.com/office/drawing/2014/main" id="{14D71F0D-AB12-F786-380A-174DDCBD3F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93790" y="8920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4423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311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AI/ML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280213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Bedrock (NOVA Nano &amp; Micro, Titan embed V2)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054423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2311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Indic Voice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28021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 AI — Bengali STT + TTS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054423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2311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WhatsApp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28021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Twilio Business API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012049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08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Compute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084" y="475976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Lambda (Serverless)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216962" y="4012049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4256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Storage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74256" y="475976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S3 (documents) + Amazon DynamoDB (sessions)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4012049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97427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API Layer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75976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API Gateway + Python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969675"/>
            <a:ext cx="13042702" cy="1367909"/>
          </a:xfrm>
          <a:prstGeom prst="roundRect">
            <a:avLst>
              <a:gd name="adj" fmla="val 14924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08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Monitoring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084" y="6717387"/>
            <a:ext cx="125281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CloudWatch + AWS IAM</a:t>
            </a:r>
            <a:endParaRPr lang="en-US" sz="17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26E7F1-52B3-7B36-D5D1-0156548796FB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62;p14" title="Artboarddfghjk – 6.png">
            <a:extLst>
              <a:ext uri="{FF2B5EF4-FFF2-40B4-BE49-F238E27FC236}">
                <a16:creationId xmlns:a16="http://schemas.microsoft.com/office/drawing/2014/main" id="{AA0C8420-724E-61CD-34F2-4A92459A79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93790" y="1176457"/>
            <a:ext cx="9739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Cost Analysis — 10,000 Users/Month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52211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$55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4840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Amazon Bedrock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74425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Haiku, 10M tokens (₹4,600)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45221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$75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4840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Sarvam AI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3974425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Bengali STT+TTS (₹6,300)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45221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$17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4840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AWS Infrastructure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97442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Lambda + DynamoDB + S3 + CloudWatch (₹1,400)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45221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$42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4840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Twilio WhatsApp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3974425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API (₹3,500)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55381"/>
            <a:ext cx="13042821" cy="2097762"/>
          </a:xfrm>
          <a:prstGeom prst="roundRect">
            <a:avLst>
              <a:gd name="adj" fmla="val 9732"/>
            </a:avLst>
          </a:prstGeom>
          <a:solidFill>
            <a:srgbClr val="4B1E01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299472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5238869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Total: ~$200/month | Cost per Citizen: ₹2/month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530906" y="580584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Return: ₹45–50 saved per avoided failed office visit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530906" y="6372820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 Optimization: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Switch to Indian WhatsApp provider → Save 50% → $168/month (₹1.40/user)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D9C8A9-E6A1-85A5-D9D5-A5AB49B6309E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62;p14" title="Artboarddfghjk – 6.png">
            <a:extLst>
              <a:ext uri="{FF2B5EF4-FFF2-40B4-BE49-F238E27FC236}">
                <a16:creationId xmlns:a16="http://schemas.microsoft.com/office/drawing/2014/main" id="{0BECCD52-BC4F-80D0-D92E-E329BC36F0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44855" y="779998"/>
            <a:ext cx="5320784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Impact &amp; Roadmap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855" y="1505307"/>
            <a:ext cx="3125867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20-User Proof of Concept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15327" y="1920597"/>
            <a:ext cx="6310789" cy="192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18/20 users found Readiness Score helpful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2.3 documents missing per user identified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90% said they would use it before their next office visit</a:t>
            </a:r>
            <a:endParaRPr lang="en-US" sz="1650" dirty="0"/>
          </a:p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Estimated ₹90–130 savings per user in travel costs + Daily </a:t>
            </a:r>
            <a:r>
              <a:rPr lang="en-US" sz="16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laboure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~₹400 = ~₹500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days faster application process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4855" y="3927945"/>
            <a:ext cx="631078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projection: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10K users → ₹9–13 lakh saved annually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82376" y="1837730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Roadmap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582376" y="2394704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582376" y="2733437"/>
            <a:ext cx="6310789" cy="2286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7582376" y="2885480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Phase 1 (MVP/Now)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582376" y="3417570"/>
            <a:ext cx="631078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Lakshmir Bhandar, production architecture, 20 pilot users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82376" y="4106823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82376" y="4445556"/>
            <a:ext cx="6310789" cy="2286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3" name="Text 11"/>
          <p:cNvSpPr/>
          <p:nvPr/>
        </p:nvSpPr>
        <p:spPr>
          <a:xfrm>
            <a:off x="7582376" y="4597598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Phase 2 (3 months)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582376" y="5129689"/>
            <a:ext cx="631078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schemes + DigiLocker integration + Swasthya Sathi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82376" y="5818942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82376" y="6157674"/>
            <a:ext cx="6310789" cy="2286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7582376" y="6309717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Phase 3 (1 year)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582376" y="6841808"/>
            <a:ext cx="631078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20+ WB schemes + tribal dialects (Santali)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7055E4-DCEA-94A9-16F3-21CEC451C9EE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010672-B3C3-F1F4-CB5B-75F5EA095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27" y="4334241"/>
            <a:ext cx="5737422" cy="32913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62;p14" title="Artboarddfghjk – 6.png">
            <a:extLst>
              <a:ext uri="{FF2B5EF4-FFF2-40B4-BE49-F238E27FC236}">
                <a16:creationId xmlns:a16="http://schemas.microsoft.com/office/drawing/2014/main" id="{B2FCFC68-03EA-5666-8DEA-C6D495582F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0"/>
          <p:cNvSpPr/>
          <p:nvPr/>
        </p:nvSpPr>
        <p:spPr>
          <a:xfrm>
            <a:off x="6130528" y="959554"/>
            <a:ext cx="4601289" cy="57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Prototype in Action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130528" y="1674727"/>
            <a:ext cx="785574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voice query to eligibility assessment in under 8 seconds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30528" y="2034778"/>
            <a:ext cx="7855744" cy="1324094"/>
          </a:xfrm>
          <a:prstGeom prst="roundRect">
            <a:avLst>
              <a:gd name="adj" fmla="val 12510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53388" y="2057638"/>
            <a:ext cx="736163" cy="1278374"/>
          </a:xfrm>
          <a:prstGeom prst="roundRect">
            <a:avLst>
              <a:gd name="adj" fmla="val 18775"/>
            </a:avLst>
          </a:prstGeom>
          <a:solidFill>
            <a:srgbClr val="030303"/>
          </a:solidFill>
          <a:ln/>
        </p:spPr>
      </p:sp>
      <p:sp>
        <p:nvSpPr>
          <p:cNvPr id="7" name="Text 4"/>
          <p:cNvSpPr/>
          <p:nvPr/>
        </p:nvSpPr>
        <p:spPr>
          <a:xfrm>
            <a:off x="6371987" y="2524244"/>
            <a:ext cx="275987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038856" y="2241590"/>
            <a:ext cx="2439710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User Speaks in Bengali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038856" y="2618661"/>
            <a:ext cx="67406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 chat interface accepts voice input: "আমি কি লক্ষ্মীর ভান্ডার পাবো?" (Will I get Lakshmir Bhandar?)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30528" y="3508177"/>
            <a:ext cx="7855744" cy="1324094"/>
          </a:xfrm>
          <a:prstGeom prst="roundRect">
            <a:avLst>
              <a:gd name="adj" fmla="val 12510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53388" y="3531037"/>
            <a:ext cx="736163" cy="1278374"/>
          </a:xfrm>
          <a:prstGeom prst="roundRect">
            <a:avLst>
              <a:gd name="adj" fmla="val 18775"/>
            </a:avLst>
          </a:prstGeom>
          <a:solidFill>
            <a:srgbClr val="030303"/>
          </a:solidFill>
          <a:ln/>
        </p:spPr>
      </p:sp>
      <p:sp>
        <p:nvSpPr>
          <p:cNvPr id="12" name="Text 9"/>
          <p:cNvSpPr/>
          <p:nvPr/>
        </p:nvSpPr>
        <p:spPr>
          <a:xfrm>
            <a:off x="6371987" y="3997643"/>
            <a:ext cx="275987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7038856" y="3714988"/>
            <a:ext cx="314979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Deterministic Eligibility Check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038856" y="4092059"/>
            <a:ext cx="67406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processes query through Sarvam AI, cross-references scheme rules, calculates readiness score: 65/100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30528" y="4981575"/>
            <a:ext cx="7855744" cy="1324094"/>
          </a:xfrm>
          <a:prstGeom prst="roundRect">
            <a:avLst>
              <a:gd name="adj" fmla="val 12510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53388" y="5004435"/>
            <a:ext cx="736163" cy="1278374"/>
          </a:xfrm>
          <a:prstGeom prst="roundRect">
            <a:avLst>
              <a:gd name="adj" fmla="val 18775"/>
            </a:avLst>
          </a:prstGeom>
          <a:solidFill>
            <a:srgbClr val="030303"/>
          </a:solidFill>
          <a:ln/>
        </p:spPr>
      </p:sp>
      <p:sp>
        <p:nvSpPr>
          <p:cNvPr id="17" name="Text 14"/>
          <p:cNvSpPr/>
          <p:nvPr/>
        </p:nvSpPr>
        <p:spPr>
          <a:xfrm>
            <a:off x="6371987" y="5471041"/>
            <a:ext cx="275987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7038856" y="5188387"/>
            <a:ext cx="319337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Personalized Action Roadmap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038856" y="5565458"/>
            <a:ext cx="67406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receives specific next steps: "Link Aadhaar to bank at nearest CSC" and "Collect Voter ID photocopy"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30528" y="6473666"/>
            <a:ext cx="7855744" cy="954881"/>
          </a:xfrm>
          <a:prstGeom prst="roundRect">
            <a:avLst>
              <a:gd name="adj" fmla="val 17347"/>
            </a:avLst>
          </a:prstGeom>
          <a:solidFill>
            <a:srgbClr val="4B1E01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480" y="6733103"/>
            <a:ext cx="230029" cy="18395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28460" y="6668929"/>
            <a:ext cx="70738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functional prototype deployed on AWS infrastructure — voice-to-eligibility in under 8 seconds</a:t>
            </a:r>
            <a:endParaRPr 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F9B399-B46B-CA33-4813-2378EE6CA990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04AFF3C-263B-5116-8E61-A810C55FA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28"/>
          <a:stretch>
            <a:fillRect/>
          </a:stretch>
        </p:blipFill>
        <p:spPr>
          <a:xfrm>
            <a:off x="0" y="804105"/>
            <a:ext cx="3319628" cy="71093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62;p14" title="Artboarddfghjk – 6.png">
            <a:extLst>
              <a:ext uri="{FF2B5EF4-FFF2-40B4-BE49-F238E27FC236}">
                <a16:creationId xmlns:a16="http://schemas.microsoft.com/office/drawing/2014/main" id="{C7A44CFA-DF70-3C7A-37A7-41F96E636F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710327" y="1077635"/>
            <a:ext cx="8983266" cy="634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Risks We've Already Thought Through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10327" y="2075021"/>
            <a:ext cx="13209746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Anticipating challenges with scalable solutions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10327" y="2586871"/>
            <a:ext cx="13209746" cy="4565094"/>
          </a:xfrm>
          <a:prstGeom prst="roundRect">
            <a:avLst>
              <a:gd name="adj" fmla="val 400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947" y="2594491"/>
            <a:ext cx="13193078" cy="54078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22258" y="2711053"/>
            <a:ext cx="398764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23284" y="2711053"/>
            <a:ext cx="398383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Level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720501" y="2711053"/>
            <a:ext cx="398764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Mitigation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7947" y="3135273"/>
            <a:ext cx="13193078" cy="8484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22258" y="3251835"/>
            <a:ext cx="398764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Bengali dialect variations (rural vs urban)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23284" y="3251835"/>
            <a:ext cx="398383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720501" y="3251835"/>
            <a:ext cx="3987641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Sarvam AI trained on 10+ Bengali dialects; fallback to text if STT confidence &lt; 70%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17947" y="3983712"/>
            <a:ext cx="13193078" cy="11560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22258" y="4100274"/>
            <a:ext cx="398764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Scheme rule changes by government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23284" y="4100274"/>
            <a:ext cx="398383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720501" y="4100274"/>
            <a:ext cx="3987641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Rules stored as versioned JSON in S3 — update without redeployment; admin panel planned for Phase 2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7947" y="5139809"/>
            <a:ext cx="13193078" cy="8484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22258" y="5256371"/>
            <a:ext cx="398764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smartphone penetration in rural areas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23284" y="5256371"/>
            <a:ext cx="398383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20501" y="5256371"/>
            <a:ext cx="3987641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 works on 2G/basic Android; USSD/IVR fallback planned for Phase 3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17947" y="5988248"/>
            <a:ext cx="13193078" cy="11560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22258" y="6104811"/>
            <a:ext cx="398764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trust in AI for sensitive welfare data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23284" y="6104811"/>
            <a:ext cx="3983831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20501" y="6104811"/>
            <a:ext cx="3987641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PII stored; session-based only; transparent "how we calculated this" explanation shown</a:t>
            </a:r>
            <a:endParaRPr lang="en-US" sz="15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D54F55-5BC1-141D-A34B-0C65D63C8607}"/>
              </a:ext>
            </a:extLst>
          </p:cNvPr>
          <p:cNvSpPr/>
          <p:nvPr/>
        </p:nvSpPr>
        <p:spPr>
          <a:xfrm>
            <a:off x="12712390" y="7627434"/>
            <a:ext cx="1806498" cy="46835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16" name="Google Shape;62;p14" title="Artboarddfghjk – 6.png">
            <a:extLst>
              <a:ext uri="{FF2B5EF4-FFF2-40B4-BE49-F238E27FC236}">
                <a16:creationId xmlns:a16="http://schemas.microsoft.com/office/drawing/2014/main" id="{0E5BA4E9-6C19-FBAD-91F2-D5D8CFF70C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0"/>
          <p:cNvSpPr/>
          <p:nvPr/>
        </p:nvSpPr>
        <p:spPr>
          <a:xfrm>
            <a:off x="545663" y="1589008"/>
            <a:ext cx="8052673" cy="194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Voice is the Great Equalizer</a:t>
            </a:r>
            <a:endParaRPr lang="en-US" sz="6100" dirty="0"/>
          </a:p>
        </p:txBody>
      </p:sp>
      <p:sp>
        <p:nvSpPr>
          <p:cNvPr id="4" name="Text 1"/>
          <p:cNvSpPr/>
          <p:nvPr/>
        </p:nvSpPr>
        <p:spPr>
          <a:xfrm>
            <a:off x="779502" y="3819287"/>
            <a:ext cx="7818834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Bengal does not lack welfare schemes — it lacks accessible verification. WB Digital Sahayak puts a prepared, informed citizen in front of every government officer. We are turning voice into a tool for social justice.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5663" y="3698796"/>
            <a:ext cx="22860" cy="6619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6" name="Shape 3"/>
          <p:cNvSpPr/>
          <p:nvPr/>
        </p:nvSpPr>
        <p:spPr>
          <a:xfrm>
            <a:off x="545663" y="4481274"/>
            <a:ext cx="3972758" cy="860584"/>
          </a:xfrm>
          <a:prstGeom prst="roundRect">
            <a:avLst>
              <a:gd name="adj" fmla="val 16308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6756" y="4652367"/>
            <a:ext cx="194917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Ready to Deploy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6756" y="4960263"/>
            <a:ext cx="36305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architecture on AWS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25578" y="4481274"/>
            <a:ext cx="3972758" cy="860584"/>
          </a:xfrm>
          <a:prstGeom prst="roundRect">
            <a:avLst>
              <a:gd name="adj" fmla="val 16308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96671" y="4652367"/>
            <a:ext cx="194917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Ready to Scale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96671" y="4960263"/>
            <a:ext cx="36305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design for 100K+ users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5663" y="5449014"/>
            <a:ext cx="8052673" cy="860584"/>
          </a:xfrm>
          <a:prstGeom prst="roundRect">
            <a:avLst>
              <a:gd name="adj" fmla="val 16308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6756" y="5620107"/>
            <a:ext cx="194917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Ready for Bharat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16756" y="5928003"/>
            <a:ext cx="7710487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Multi-language support for Phase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5663" y="6430089"/>
            <a:ext cx="80526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Web | Souvik Karmakar | AI for Bharat Hackathon 2026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EF02C-26C0-7377-6DF1-0124BDEAE22F}"/>
              </a:ext>
            </a:extLst>
          </p:cNvPr>
          <p:cNvSpPr txBox="1"/>
          <p:nvPr/>
        </p:nvSpPr>
        <p:spPr>
          <a:xfrm>
            <a:off x="336716" y="6899165"/>
            <a:ext cx="3967753" cy="395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GB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GitHub: </a:t>
            </a:r>
            <a:r>
              <a:rPr lang="en-GB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WB-Digital-</a:t>
            </a:r>
            <a:r>
              <a:rPr lang="en-GB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Sahayak.git</a:t>
            </a:r>
            <a:endParaRPr lang="en-GB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17C743-8680-A896-7D24-3DADDBC8BE94}"/>
              </a:ext>
            </a:extLst>
          </p:cNvPr>
          <p:cNvSpPr txBox="1"/>
          <p:nvPr/>
        </p:nvSpPr>
        <p:spPr>
          <a:xfrm>
            <a:off x="339825" y="7219522"/>
            <a:ext cx="2502608" cy="395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GB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Demo Video: </a:t>
            </a:r>
            <a:r>
              <a:rPr lang="en-GB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Video</a:t>
            </a:r>
            <a:endParaRPr lang="en-GB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5;p26" title="AI for Bharddat BANNER – 5.png">
            <a:extLst>
              <a:ext uri="{FF2B5EF4-FFF2-40B4-BE49-F238E27FC236}">
                <a16:creationId xmlns:a16="http://schemas.microsoft.com/office/drawing/2014/main" id="{261A36BE-1866-FFA3-A77C-BEDA9682F7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08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1049</Words>
  <Application>Microsoft Office PowerPoint</Application>
  <PresentationFormat>Custom</PresentationFormat>
  <Paragraphs>157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Saira Light</vt:lpstr>
      <vt:lpstr>Roboto</vt:lpstr>
      <vt:lpstr>Saira Medium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Subho Bhattacharya</dc:creator>
  <cp:lastModifiedBy>SOUVIK KARMAKAR</cp:lastModifiedBy>
  <cp:revision>12</cp:revision>
  <dcterms:created xsi:type="dcterms:W3CDTF">2026-03-08T15:12:06Z</dcterms:created>
  <dcterms:modified xsi:type="dcterms:W3CDTF">2026-03-08T18:08:32Z</dcterms:modified>
</cp:coreProperties>
</file>